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Our teams use AI models every day. Every query carries some of our proprietary scientific knowledge, sometimes explicitly, sometimes only through what we choose to ask about. Today we have no way to know whether any of it has ended up inside the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can’t inspect a model’s training data, and we shouldn’t rely on the vendor’s word alone. What we need is an independent party that tests the models from the outside and reports how much of our knowledge they appear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gather and condense all the queries the organization has made to AI models, so we know what could have leaked. Step 2: from that, derive very sharp, specific information that could not plausibly have been in the models beforehand. These act as fingerprints. Step 3: put questions about those fingerprints to the AI models. The more of our specifics the answers reproduce, the higher the leak score, from 0 to 100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6790"/>
            <a:ext cx="10045700" cy="866105"/>
          </a:xfrm>
          <a:prstGeom prst="rect">
            <a:avLst/>
          </a:prstGeom>
          <a:noFill/>
          <a:ln/>
        </p:spPr>
        <p:txBody>
          <a:bodyPr wrap="square" lIns="0" tIns="0" rIns="0" bIns="0" rtlCol="0" anchor="t"/>
          <a:lstStyle>
            <a:lvl1pPr algn="l" indent="0" marL="0">
              <a:lnSpc>
                <a:spcPct val="115000"/>
              </a:lnSpc>
              <a:buNone/>
              <a:defRPr lang="en-US" sz="40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2397696"/>
            <a:ext cx="10566400" cy="3647504"/>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6790"/>
            <a:ext cx="10045700" cy="866105"/>
          </a:xfrm>
          <a:prstGeom prst="rect">
            <a:avLst/>
          </a:prstGeom>
          <a:noFill/>
          <a:ln/>
        </p:spPr>
        <p:txBody>
          <a:bodyPr wrap="square" lIns="0" tIns="0" rIns="0" bIns="0" rtlCol="0" anchor="t"/>
          <a:lstStyle>
            <a:lvl1pPr algn="l" indent="0" marL="0">
              <a:lnSpc>
                <a:spcPct val="115000"/>
              </a:lnSpc>
              <a:buNone/>
              <a:defRPr lang="en-US" sz="40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2397696"/>
            <a:ext cx="10566400" cy="3647504"/>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1757759"/>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5501F"/>
                </a:solidFill>
                <a:latin typeface="IBM Plex Sans" pitchFamily="34" charset="0"/>
                <a:ea typeface="IBM Plex Sans" pitchFamily="34" charset="-122"/>
                <a:cs typeface="IBM Plex Sans" pitchFamily="34" charset="-120"/>
              </a:rPr>
              <a:t>THE QUESTION</a:t>
            </a:r>
            <a:endParaRPr lang="en-US" sz="1400" dirty="0"/>
          </a:p>
        </p:txBody>
      </p:sp>
      <p:sp>
        <p:nvSpPr>
          <p:cNvPr id="3" name="Text 1"/>
          <p:cNvSpPr/>
          <p:nvPr>
            <p:ph type="title"/>
          </p:nvPr>
        </p:nvSpPr>
        <p:spPr>
          <a:xfrm>
            <a:off x="812800" y="2362250"/>
            <a:ext cx="9810750" cy="2036961"/>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14213D"/>
                </a:solidFill>
                <a:latin typeface="Source Serif 4" pitchFamily="18" charset="0"/>
                <a:ea typeface="Source Serif 4" pitchFamily="18" charset="-122"/>
                <a:cs typeface="Source Serif 4" pitchFamily="18" charset="-120"/>
              </a:rPr>
              <a:t>How do we keep proprietary scientific knowledge out of AI models?</a:t>
            </a:r>
            <a:endParaRPr lang="en-US" sz="4800" dirty="0"/>
          </a:p>
        </p:txBody>
      </p:sp>
      <p:sp>
        <p:nvSpPr>
          <p:cNvPr id="4" name="Shape 2"/>
          <p:cNvSpPr/>
          <p:nvPr/>
        </p:nvSpPr>
        <p:spPr>
          <a:xfrm>
            <a:off x="825500" y="4729411"/>
            <a:ext cx="0" cy="370830"/>
          </a:xfrm>
          <a:prstGeom prst="line">
            <a:avLst/>
          </a:prstGeom>
          <a:noFill/>
          <a:ln w="25400">
            <a:solidFill>
              <a:srgbClr val="B5501F"/>
            </a:solidFill>
            <a:prstDash val="solid"/>
          </a:ln>
        </p:spPr>
      </p:sp>
      <p:sp>
        <p:nvSpPr>
          <p:cNvPr id="5" name="Text 3"/>
          <p:cNvSpPr/>
          <p:nvPr/>
        </p:nvSpPr>
        <p:spPr>
          <a:xfrm>
            <a:off x="1016000" y="4754811"/>
            <a:ext cx="292176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IBM Plex Sans" pitchFamily="34" charset="0"/>
                <a:ea typeface="IBM Plex Sans" pitchFamily="34" charset="-122"/>
                <a:cs typeface="IBM Plex Sans" pitchFamily="34" charset="-120"/>
              </a:rPr>
              <a:t>Directly</a:t>
            </a:r>
            <a:r>
              <a:rPr lang="en-US" sz="1800" dirty="0">
                <a:solidFill>
                  <a:srgbClr val="4A5568"/>
                </a:solidFill>
                <a:latin typeface="IBM Plex Sans" pitchFamily="34" charset="0"/>
                <a:ea typeface="IBM Plex Sans" pitchFamily="34" charset="-122"/>
                <a:cs typeface="IBM Plex Sans" pitchFamily="34" charset="-120"/>
              </a:rPr>
              <a:t> — what we paste in</a:t>
            </a:r>
            <a:endParaRPr lang="en-US" sz="1800" dirty="0"/>
          </a:p>
        </p:txBody>
      </p:sp>
      <p:sp>
        <p:nvSpPr>
          <p:cNvPr id="6" name="Shape 4"/>
          <p:cNvSpPr/>
          <p:nvPr/>
        </p:nvSpPr>
        <p:spPr>
          <a:xfrm>
            <a:off x="4271764" y="4729411"/>
            <a:ext cx="0" cy="370830"/>
          </a:xfrm>
          <a:prstGeom prst="line">
            <a:avLst/>
          </a:prstGeom>
          <a:noFill/>
          <a:ln w="25400">
            <a:solidFill>
              <a:srgbClr val="B5501F"/>
            </a:solidFill>
            <a:prstDash val="solid"/>
          </a:ln>
        </p:spPr>
      </p:sp>
      <p:sp>
        <p:nvSpPr>
          <p:cNvPr id="7" name="Text 5"/>
          <p:cNvSpPr/>
          <p:nvPr/>
        </p:nvSpPr>
        <p:spPr>
          <a:xfrm>
            <a:off x="4462264" y="4754811"/>
            <a:ext cx="3334735"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IBM Plex Sans" pitchFamily="34" charset="0"/>
                <a:ea typeface="IBM Plex Sans" pitchFamily="34" charset="-122"/>
                <a:cs typeface="IBM Plex Sans" pitchFamily="34" charset="-120"/>
              </a:rPr>
              <a:t>Indirectly</a:t>
            </a:r>
            <a:r>
              <a:rPr lang="en-US" sz="1800" dirty="0">
                <a:solidFill>
                  <a:srgbClr val="4A5568"/>
                </a:solidFill>
                <a:latin typeface="IBM Plex Sans" pitchFamily="34" charset="0"/>
                <a:ea typeface="IBM Plex Sans" pitchFamily="34" charset="-122"/>
                <a:cs typeface="IBM Plex Sans" pitchFamily="34" charset="-120"/>
              </a:rPr>
              <a:t> — what we ask about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5501F"/>
                </a:solidFill>
                <a:latin typeface="IBM Plex Sans" pitchFamily="34" charset="0"/>
                <a:ea typeface="IBM Plex Sans" pitchFamily="34" charset="-122"/>
                <a:cs typeface="IBM Plex Sans" pitchFamily="34" charset="-120"/>
              </a:rPr>
              <a:t>OUR APPROACH</a:t>
            </a:r>
            <a:endParaRPr lang="en-US" sz="1400" dirty="0"/>
          </a:p>
        </p:txBody>
      </p:sp>
      <p:sp>
        <p:nvSpPr>
          <p:cNvPr id="3" name="Text 1"/>
          <p:cNvSpPr/>
          <p:nvPr>
            <p:ph type="title"/>
          </p:nvPr>
        </p:nvSpPr>
        <p:spPr>
          <a:xfrm>
            <a:off x="812800" y="126489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14213D"/>
                </a:solidFill>
                <a:latin typeface="Source Serif 4" pitchFamily="18" charset="0"/>
                <a:ea typeface="Source Serif 4" pitchFamily="18" charset="-122"/>
                <a:cs typeface="Source Serif 4" pitchFamily="18" charset="-120"/>
              </a:rPr>
              <a:t>Measure the leak with an independent third-party tool.</a:t>
            </a:r>
            <a:endParaRPr lang="en-US" sz="4400" dirty="0"/>
          </a:p>
        </p:txBody>
      </p:sp>
      <p:sp>
        <p:nvSpPr>
          <p:cNvPr id="4" name="Shape 2"/>
          <p:cNvSpPr/>
          <p:nvPr/>
        </p:nvSpPr>
        <p:spPr>
          <a:xfrm>
            <a:off x="812800" y="4907310"/>
            <a:ext cx="3386634" cy="1137890"/>
          </a:xfrm>
          <a:prstGeom prst="roundRect">
            <a:avLst>
              <a:gd name="adj" fmla="val 8929"/>
            </a:avLst>
          </a:prstGeom>
          <a:solidFill>
            <a:srgbClr val="F6F5F1"/>
          </a:solidFill>
          <a:ln/>
        </p:spPr>
      </p:sp>
      <p:sp>
        <p:nvSpPr>
          <p:cNvPr id="5" name="Text 3"/>
          <p:cNvSpPr/>
          <p:nvPr/>
        </p:nvSpPr>
        <p:spPr>
          <a:xfrm>
            <a:off x="1066800" y="516131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Independent</a:t>
            </a:r>
            <a:endParaRPr lang="en-US" sz="2000" dirty="0"/>
          </a:p>
        </p:txBody>
      </p:sp>
      <p:sp>
        <p:nvSpPr>
          <p:cNvPr id="6" name="Text 4"/>
          <p:cNvSpPr/>
          <p:nvPr/>
        </p:nvSpPr>
        <p:spPr>
          <a:xfrm>
            <a:off x="1066800" y="5542310"/>
            <a:ext cx="296499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No one grades their own work</a:t>
            </a:r>
            <a:endParaRPr lang="en-US" sz="1400" dirty="0"/>
          </a:p>
        </p:txBody>
      </p:sp>
      <p:sp>
        <p:nvSpPr>
          <p:cNvPr id="7" name="Shape 5"/>
          <p:cNvSpPr/>
          <p:nvPr/>
        </p:nvSpPr>
        <p:spPr>
          <a:xfrm>
            <a:off x="4402634" y="4907310"/>
            <a:ext cx="3386683" cy="1137890"/>
          </a:xfrm>
          <a:prstGeom prst="roundRect">
            <a:avLst>
              <a:gd name="adj" fmla="val 8929"/>
            </a:avLst>
          </a:prstGeom>
          <a:solidFill>
            <a:srgbClr val="F6F5F1"/>
          </a:solidFill>
          <a:ln/>
        </p:spPr>
      </p:sp>
      <p:sp>
        <p:nvSpPr>
          <p:cNvPr id="8" name="Text 6"/>
          <p:cNvSpPr/>
          <p:nvPr/>
        </p:nvSpPr>
        <p:spPr>
          <a:xfrm>
            <a:off x="4656634" y="516131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Measurable</a:t>
            </a:r>
            <a:endParaRPr lang="en-US" sz="2000" dirty="0"/>
          </a:p>
        </p:txBody>
      </p:sp>
      <p:sp>
        <p:nvSpPr>
          <p:cNvPr id="9" name="Text 7"/>
          <p:cNvSpPr/>
          <p:nvPr/>
        </p:nvSpPr>
        <p:spPr>
          <a:xfrm>
            <a:off x="4656634" y="5542310"/>
            <a:ext cx="296504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 score, not a promise</a:t>
            </a:r>
            <a:endParaRPr lang="en-US" sz="1400" dirty="0"/>
          </a:p>
        </p:txBody>
      </p:sp>
      <p:sp>
        <p:nvSpPr>
          <p:cNvPr id="10" name="Shape 8"/>
          <p:cNvSpPr/>
          <p:nvPr/>
        </p:nvSpPr>
        <p:spPr>
          <a:xfrm>
            <a:off x="7992517" y="4907310"/>
            <a:ext cx="3386683" cy="1137890"/>
          </a:xfrm>
          <a:prstGeom prst="roundRect">
            <a:avLst>
              <a:gd name="adj" fmla="val 8929"/>
            </a:avLst>
          </a:prstGeom>
          <a:solidFill>
            <a:srgbClr val="F6F5F1"/>
          </a:solidFill>
          <a:ln/>
        </p:spPr>
      </p:sp>
      <p:sp>
        <p:nvSpPr>
          <p:cNvPr id="11" name="Text 9"/>
          <p:cNvSpPr/>
          <p:nvPr/>
        </p:nvSpPr>
        <p:spPr>
          <a:xfrm>
            <a:off x="8246517" y="516131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Repeatable</a:t>
            </a:r>
            <a:endParaRPr lang="en-US" sz="2000" dirty="0"/>
          </a:p>
        </p:txBody>
      </p:sp>
      <p:sp>
        <p:nvSpPr>
          <p:cNvPr id="12" name="Text 10"/>
          <p:cNvSpPr/>
          <p:nvPr/>
        </p:nvSpPr>
        <p:spPr>
          <a:xfrm>
            <a:off x="8246517" y="5542310"/>
            <a:ext cx="296504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Re-run as models change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5501F"/>
                </a:solidFill>
                <a:latin typeface="IBM Plex Sans" pitchFamily="34" charset="0"/>
                <a:ea typeface="IBM Plex Sans" pitchFamily="34" charset="-122"/>
                <a:cs typeface="IBM Plex Sans" pitchFamily="34" charset="-120"/>
              </a:rPr>
              <a:t>OUR METHODOLOGY</a:t>
            </a:r>
            <a:endParaRPr lang="en-US" sz="1400" dirty="0"/>
          </a:p>
        </p:txBody>
      </p:sp>
      <p:sp>
        <p:nvSpPr>
          <p:cNvPr id="3" name="Text 1"/>
          <p:cNvSpPr/>
          <p:nvPr>
            <p:ph type="title"/>
          </p:nvPr>
        </p:nvSpPr>
        <p:spPr>
          <a:xfrm>
            <a:off x="812800" y="11886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13D"/>
                </a:solidFill>
                <a:latin typeface="Source Serif 4" pitchFamily="18" charset="0"/>
                <a:ea typeface="Source Serif 4" pitchFamily="18" charset="-122"/>
                <a:cs typeface="Source Serif 4" pitchFamily="18" charset="-120"/>
              </a:rPr>
              <a:t>Three steps to a leak score</a:t>
            </a:r>
            <a:endParaRPr lang="en-US" sz="3600" dirty="0"/>
          </a:p>
        </p:txBody>
      </p:sp>
      <p:sp>
        <p:nvSpPr>
          <p:cNvPr id="4" name="Shape 2"/>
          <p:cNvSpPr/>
          <p:nvPr/>
        </p:nvSpPr>
        <p:spPr>
          <a:xfrm>
            <a:off x="812800" y="2664520"/>
            <a:ext cx="3081834" cy="1904901"/>
          </a:xfrm>
          <a:prstGeom prst="roundRect">
            <a:avLst>
              <a:gd name="adj" fmla="val 5334"/>
            </a:avLst>
          </a:prstGeom>
          <a:solidFill>
            <a:srgbClr val="F6F5F1"/>
          </a:solidFill>
          <a:ln/>
        </p:spPr>
      </p:sp>
      <p:sp>
        <p:nvSpPr>
          <p:cNvPr id="5" name="Text 3"/>
          <p:cNvSpPr/>
          <p:nvPr/>
        </p:nvSpPr>
        <p:spPr>
          <a:xfrm>
            <a:off x="1066800" y="2918520"/>
            <a:ext cx="265104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690"/>
                </a:solidFill>
                <a:latin typeface="Source Serif 4" pitchFamily="18" charset="0"/>
                <a:ea typeface="Source Serif 4" pitchFamily="18" charset="-122"/>
                <a:cs typeface="Source Serif 4" pitchFamily="18" charset="-120"/>
              </a:rPr>
              <a:t>01</a:t>
            </a:r>
            <a:endParaRPr lang="en-US" sz="2200" dirty="0"/>
          </a:p>
        </p:txBody>
      </p:sp>
      <p:sp>
        <p:nvSpPr>
          <p:cNvPr id="6" name="Text 4"/>
          <p:cNvSpPr/>
          <p:nvPr/>
        </p:nvSpPr>
        <p:spPr>
          <a:xfrm>
            <a:off x="1066800" y="3411240"/>
            <a:ext cx="265104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Condense</a:t>
            </a:r>
            <a:endParaRPr lang="en-US" sz="2000" dirty="0"/>
          </a:p>
        </p:txBody>
      </p:sp>
      <p:sp>
        <p:nvSpPr>
          <p:cNvPr id="7" name="Text 5"/>
          <p:cNvSpPr/>
          <p:nvPr/>
        </p:nvSpPr>
        <p:spPr>
          <a:xfrm>
            <a:off x="1066800" y="3817640"/>
            <a:ext cx="265104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All our AI queries, distilled</a:t>
            </a:r>
            <a:endParaRPr lang="en-US" sz="1400" dirty="0"/>
          </a:p>
        </p:txBody>
      </p:sp>
      <p:pic>
        <p:nvPicPr>
          <p:cNvPr id="8" name="Image 0" descr="arrow-right">    </p:cNvPr>
          <p:cNvPicPr>
            <a:picLocks noChangeAspect="1"/>
          </p:cNvPicPr>
          <p:nvPr/>
        </p:nvPicPr>
        <p:blipFill>
          <a:blip r:embed="rId1"/>
          <a:srcRect l="0" r="0" t="0" b="0"/>
          <a:stretch/>
        </p:blipFill>
        <p:spPr>
          <a:xfrm>
            <a:off x="4047034" y="3528070"/>
            <a:ext cx="355600" cy="177800"/>
          </a:xfrm>
          <a:prstGeom prst="rect">
            <a:avLst/>
          </a:prstGeom>
        </p:spPr>
      </p:pic>
      <p:sp>
        <p:nvSpPr>
          <p:cNvPr id="9" name="Shape 6"/>
          <p:cNvSpPr/>
          <p:nvPr/>
        </p:nvSpPr>
        <p:spPr>
          <a:xfrm>
            <a:off x="4555034" y="2664520"/>
            <a:ext cx="3081883" cy="1904901"/>
          </a:xfrm>
          <a:prstGeom prst="roundRect">
            <a:avLst>
              <a:gd name="adj" fmla="val 5334"/>
            </a:avLst>
          </a:prstGeom>
          <a:solidFill>
            <a:srgbClr val="F6F5F1"/>
          </a:solidFill>
          <a:ln/>
        </p:spPr>
      </p:sp>
      <p:sp>
        <p:nvSpPr>
          <p:cNvPr id="10" name="Text 7"/>
          <p:cNvSpPr/>
          <p:nvPr/>
        </p:nvSpPr>
        <p:spPr>
          <a:xfrm>
            <a:off x="4809034" y="2918520"/>
            <a:ext cx="26511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690"/>
                </a:solidFill>
                <a:latin typeface="Source Serif 4" pitchFamily="18" charset="0"/>
                <a:ea typeface="Source Serif 4" pitchFamily="18" charset="-122"/>
                <a:cs typeface="Source Serif 4" pitchFamily="18" charset="-120"/>
              </a:rPr>
              <a:t>02</a:t>
            </a:r>
            <a:endParaRPr lang="en-US" sz="2200" dirty="0"/>
          </a:p>
        </p:txBody>
      </p:sp>
      <p:sp>
        <p:nvSpPr>
          <p:cNvPr id="11" name="Text 8"/>
          <p:cNvSpPr/>
          <p:nvPr/>
        </p:nvSpPr>
        <p:spPr>
          <a:xfrm>
            <a:off x="4809034" y="3411240"/>
            <a:ext cx="26511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Fingerprint</a:t>
            </a:r>
            <a:endParaRPr lang="en-US" sz="2000" dirty="0"/>
          </a:p>
        </p:txBody>
      </p:sp>
      <p:sp>
        <p:nvSpPr>
          <p:cNvPr id="12" name="Text 9"/>
          <p:cNvSpPr/>
          <p:nvPr/>
        </p:nvSpPr>
        <p:spPr>
          <a:xfrm>
            <a:off x="4809034" y="3817640"/>
            <a:ext cx="265110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Sharp facts no model could already know</a:t>
            </a:r>
            <a:endParaRPr lang="en-US" sz="1400" dirty="0"/>
          </a:p>
        </p:txBody>
      </p:sp>
      <p:pic>
        <p:nvPicPr>
          <p:cNvPr id="13" name="Image 1" descr="arrow-right">    </p:cNvPr>
          <p:cNvPicPr>
            <a:picLocks noChangeAspect="1"/>
          </p:cNvPicPr>
          <p:nvPr/>
        </p:nvPicPr>
        <p:blipFill>
          <a:blip r:embed="rId2"/>
          <a:srcRect l="0" r="0" t="0" b="0"/>
          <a:stretch/>
        </p:blipFill>
        <p:spPr>
          <a:xfrm>
            <a:off x="7789317" y="3528070"/>
            <a:ext cx="355600" cy="177800"/>
          </a:xfrm>
          <a:prstGeom prst="rect">
            <a:avLst/>
          </a:prstGeom>
        </p:spPr>
      </p:pic>
      <p:sp>
        <p:nvSpPr>
          <p:cNvPr id="14" name="Shape 10"/>
          <p:cNvSpPr/>
          <p:nvPr/>
        </p:nvSpPr>
        <p:spPr>
          <a:xfrm>
            <a:off x="8297317" y="2664520"/>
            <a:ext cx="3081883" cy="1904901"/>
          </a:xfrm>
          <a:prstGeom prst="roundRect">
            <a:avLst>
              <a:gd name="adj" fmla="val 5334"/>
            </a:avLst>
          </a:prstGeom>
          <a:solidFill>
            <a:srgbClr val="F6F5F1"/>
          </a:solidFill>
          <a:ln/>
        </p:spPr>
      </p:sp>
      <p:sp>
        <p:nvSpPr>
          <p:cNvPr id="15" name="Text 11"/>
          <p:cNvSpPr/>
          <p:nvPr/>
        </p:nvSpPr>
        <p:spPr>
          <a:xfrm>
            <a:off x="8551317" y="2918520"/>
            <a:ext cx="26511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690"/>
                </a:solidFill>
                <a:latin typeface="Source Serif 4" pitchFamily="18" charset="0"/>
                <a:ea typeface="Source Serif 4" pitchFamily="18" charset="-122"/>
                <a:cs typeface="Source Serif 4" pitchFamily="18" charset="-120"/>
              </a:rPr>
              <a:t>03</a:t>
            </a:r>
            <a:endParaRPr lang="en-US" sz="2200" dirty="0"/>
          </a:p>
        </p:txBody>
      </p:sp>
      <p:sp>
        <p:nvSpPr>
          <p:cNvPr id="16" name="Text 12"/>
          <p:cNvSpPr/>
          <p:nvPr/>
        </p:nvSpPr>
        <p:spPr>
          <a:xfrm>
            <a:off x="8551317" y="3411240"/>
            <a:ext cx="26511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Probe</a:t>
            </a:r>
            <a:endParaRPr lang="en-US" sz="2000" dirty="0"/>
          </a:p>
        </p:txBody>
      </p:sp>
      <p:sp>
        <p:nvSpPr>
          <p:cNvPr id="17" name="Text 13"/>
          <p:cNvSpPr/>
          <p:nvPr/>
        </p:nvSpPr>
        <p:spPr>
          <a:xfrm>
            <a:off x="8551317" y="3817640"/>
            <a:ext cx="265110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Ask the models, score the answers</a:t>
            </a:r>
            <a:endParaRPr lang="en-US" sz="1400" dirty="0"/>
          </a:p>
        </p:txBody>
      </p:sp>
      <p:sp>
        <p:nvSpPr>
          <p:cNvPr id="18" name="Shape 14"/>
          <p:cNvSpPr/>
          <p:nvPr/>
        </p:nvSpPr>
        <p:spPr>
          <a:xfrm>
            <a:off x="812800" y="5542310"/>
            <a:ext cx="10566400" cy="152400"/>
          </a:xfrm>
          <a:prstGeom prst="roundRect">
            <a:avLst>
              <a:gd name="adj" fmla="val 50000"/>
            </a:avLst>
          </a:prstGeom>
          <a:gradFill rotWithShape="1">
            <a:gsLst>
              <a:gs pos="0">
                <a:srgbClr val="2F6690"/>
              </a:gs>
              <a:gs pos="100000">
                <a:srgbClr val="B5501F"/>
              </a:gs>
            </a:gsLst>
            <a:lin ang="0" scaled="0"/>
          </a:gradFill>
          <a:ln/>
        </p:spPr>
      </p:sp>
      <p:sp>
        <p:nvSpPr>
          <p:cNvPr id="19" name="Text 15"/>
          <p:cNvSpPr/>
          <p:nvPr/>
        </p:nvSpPr>
        <p:spPr>
          <a:xfrm>
            <a:off x="812800" y="5796310"/>
            <a:ext cx="107584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0%</a:t>
            </a:r>
            <a:r>
              <a:rPr lang="en-US" sz="1400" dirty="0">
                <a:solidFill>
                  <a:srgbClr val="4A5568"/>
                </a:solidFill>
                <a:latin typeface="IBM Plex Sans" pitchFamily="34" charset="0"/>
                <a:ea typeface="IBM Plex Sans" pitchFamily="34" charset="-122"/>
                <a:cs typeface="IBM Plex Sans" pitchFamily="34" charset="-120"/>
              </a:rPr>
              <a:t> no leak</a:t>
            </a:r>
            <a:endParaRPr lang="en-US" sz="1400" dirty="0"/>
          </a:p>
        </p:txBody>
      </p:sp>
      <p:sp>
        <p:nvSpPr>
          <p:cNvPr id="20" name="Text 16"/>
          <p:cNvSpPr/>
          <p:nvPr/>
        </p:nvSpPr>
        <p:spPr>
          <a:xfrm>
            <a:off x="9982656" y="5796310"/>
            <a:ext cx="1396544" cy="27429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100%</a:t>
            </a:r>
            <a:r>
              <a:rPr lang="en-US" sz="1400" dirty="0">
                <a:solidFill>
                  <a:srgbClr val="4A5568"/>
                </a:solidFill>
                <a:latin typeface="IBM Plex Sans" pitchFamily="34" charset="0"/>
                <a:ea typeface="IBM Plex Sans" pitchFamily="34" charset="-122"/>
                <a:cs typeface="IBM Plex Sans" pitchFamily="34" charset="-120"/>
              </a:rPr>
              <a:t> full leak</a:t>
            </a:r>
            <a:endParaRPr lang="en-US" sz="1400" dirty="0"/>
          </a:p>
        </p:txBody>
      </p:sp>
    </p:spTree>
  </p:cSld>
  <p:clrMapOvr>
    <a:masterClrMapping/>
  </p:clrMapOvr>
</p:sld>
</file>

<file path=ppt/theme/theme1.xml><?xml version="1.0" encoding="utf-8"?>
<a:theme xmlns:a="http://schemas.openxmlformats.org/drawingml/2006/main" name="Measuring AI Data Leakage">
  <a:themeElements>
    <a:clrScheme name="Measuring AI Data Leakage">
      <a:dk1>
        <a:srgbClr val="14213D"/>
      </a:dk1>
      <a:lt1>
        <a:srgbClr val="FFFFFF"/>
      </a:lt1>
      <a:dk2>
        <a:srgbClr val="4F596E"/>
      </a:dk2>
      <a:lt2>
        <a:srgbClr val="E8E9EC"/>
      </a:lt2>
      <a:accent1>
        <a:srgbClr val="2F6690"/>
      </a:accent1>
      <a:accent2>
        <a:srgbClr val="B5501F"/>
      </a:accent2>
      <a:accent3>
        <a:srgbClr val="4A5568"/>
      </a:accent3>
      <a:accent4>
        <a:srgbClr val="9AA0A6"/>
      </a:accent4>
      <a:accent5>
        <a:srgbClr val="727A8B"/>
      </a:accent5>
      <a:accent6>
        <a:srgbClr val="959BA8"/>
      </a:accent6>
      <a:hlink>
        <a:srgbClr val="0563C1"/>
      </a:hlink>
      <a:folHlink>
        <a:srgbClr val="954F72"/>
      </a:folHlink>
    </a:clrScheme>
    <a:fontScheme name="Measuring AI Data Leakag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Measuring AI Data Leakage</dc:title>
  <dc:subject/>
  <dc:creator/>
  <cp:lastModifiedBy/>
  <cp:revision>1</cp:revision>
  <dcterms:created xsi:type="dcterms:W3CDTF">2026-10-27T02:50:08Z</dcterms:created>
  <dcterms:modified xsi:type="dcterms:W3CDTF">2026-10-27T02:50:08Z</dcterms:modified>
</cp:coreProperties>
</file>