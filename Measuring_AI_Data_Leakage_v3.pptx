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10"/>
    <p:sldId id="260" r:id="rId11"/>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Memorized (hidden from the tool)</c:v>
                </c:pt>
              </c:strCache>
            </c:strRef>
          </c:tx>
          <c:spPr>
            <a:solidFill>
              <a:srgbClr val="8A94A6"/>
            </a:solidFill>
          </c:spPr>
          <c:cat>
            <c:strRef>
              <c:f>Sheet1!$A$2:$A$4</c:f>
              <c:strCache>
                <c:ptCount val="3"/>
                <c:pt idx="0">
                  <c:v>Clean model</c:v>
                </c:pt>
                <c:pt idx="1">
                  <c:v>Partial model</c:v>
                </c:pt>
                <c:pt idx="2">
                  <c:v>Leaky model</c:v>
                </c:pt>
              </c:strCache>
            </c:strRef>
          </c:cat>
          <c:val>
            <c:numRef>
              <c:f>Sheet1!$B$2:$B$4</c:f>
              <c:numCache>
                <c:formatCode>General</c:formatCode>
                <c:ptCount val="3"/>
                <c:pt idx="0">
                  <c:v>0</c:v>
                </c:pt>
                <c:pt idx="1">
                  <c:v>15</c:v>
                </c:pt>
                <c:pt idx="2">
                  <c:v>45</c:v>
                </c:pt>
              </c:numCache>
            </c:numRef>
          </c:val>
        </c:ser>
        <c:ser>
          <c:idx val="1"/>
          <c:order val="1"/>
          <c:tx>
            <c:strRef>
              <c:f>Sheet1!$C$1</c:f>
              <c:strCache>
                <c:ptCount val="1"/>
                <c:pt idx="0">
                  <c:v>Measured leak score</c:v>
                </c:pt>
              </c:strCache>
            </c:strRef>
          </c:tx>
          <c:spPr>
            <a:solidFill>
              <a:srgbClr val="B5501F"/>
            </a:solidFill>
          </c:spPr>
          <c:cat>
            <c:strRef>
              <c:f>Sheet1!$A$2:$A$4</c:f>
              <c:strCache>
                <c:ptCount val="3"/>
                <c:pt idx="0">
                  <c:v>Clean model</c:v>
                </c:pt>
                <c:pt idx="1">
                  <c:v>Partial model</c:v>
                </c:pt>
                <c:pt idx="2">
                  <c:v>Leaky model</c:v>
                </c:pt>
              </c:strCache>
            </c:strRef>
          </c:cat>
          <c:val>
            <c:numRef>
              <c:f>Sheet1!$C$2:$C$4</c:f>
              <c:numCache>
                <c:formatCode>General</c:formatCode>
                <c:ptCount val="3"/>
                <c:pt idx="0">
                  <c:v>1.5</c:v>
                </c:pt>
                <c:pt idx="1">
                  <c:v>18.4</c:v>
                </c:pt>
                <c:pt idx="2">
                  <c:v>48.2</c:v>
                </c:pt>
              </c:numCache>
            </c:numRef>
          </c:val>
        </c:ser>
        <c:dLbls>
          <c:numFmt formatCode="0&quot;%&quot;" sourceLinked="0"/>
          <c:txPr>
            <a:bodyPr/>
            <a:lstStyle/>
            <a:p>
              <a:pPr>
                <a:defRPr sz="1300" b="1">
                  <a:solidFill>
                    <a:srgbClr val="14213D"/>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E2DFD6"/>
            </a:solidFill>
          </a:ln>
        </c:spPr>
        <c:txPr>
          <a:bodyPr/>
          <a:lstStyle/>
          <a:p>
            <a:pPr>
              <a:defRPr sz="1300">
                <a:solidFill>
                  <a:srgbClr val="14213D"/>
                </a:solidFill>
              </a:defRPr>
            </a:pPr>
          </a:p>
        </c:txPr>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4A5568"/>
          </a:solidFill>
          <a:latin typeface="IBM Plex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Our teams use AI models every day. Every query carries some of our proprietary scientific knowledge, sometimes explicitly, sometimes only through what we choose to ask about. Today we have no way to know whether any of it has ended up inside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can’t inspect a model’s training data, and we shouldn’t rely on the vendor’s word alone. What we need is an independent party that tests the models from the outside and reports how much of our knowledge they appear to hold. This complements our paste-checker kit: the checker stops obvious leaks before data is sent, and measurement catches what it can’t, such as unpublished results described in plain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gather and condense all the queries the organization has made to AI models, so we know what could have leaked. Step 2: from that, derive very sharp, specific information that could not plausibly have been in the models beforehand. These act as fingerprints. Step 3: put questions about those fingerprints to the AI models. The more of our specifics the answers reproduce, the higher the leak score, from 0 to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Leakprobe is the tool behind the method. It reads an export of our AI query log, plus public papers and press releases as a baseline, and finds sharp facts such as compound IDs, assay values, program leads and sequences. Every fact gets a fabricated decoy of the same shape, so we can subtract lucky guesses. It can probe Claude, GPT or any OpenAI-compatible or local model, and it writes a report with the leak score, a 95% interval and the facts each model reproduced. It is plain Python with no dependencies, so it can run on a schedule and flag a model whose score crosses a threshold. One caution: asking the questions reveals compound and program names to the provider, so we probe only through zero-retention APIs or local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leakprobe on a synthetic query log against three simulated models. Each had memorized a hidden share of our sharp facts: 0, 15 and 45 percent. The tool never saw those settings. It scored the models at about 2, 18 and 48 percent, and every true value falls inside its 95% interval. The decoy hit rate stayed at 7 percent for every model, which is the baseline for lucky guesses. One fact was dropped automatically because it appeared in a synthetic press release. An interactive version and a one-minute video of this demo are available.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6790"/>
            <a:ext cx="10045700" cy="866105"/>
          </a:xfrm>
          <a:prstGeom prst="rect">
            <a:avLst/>
          </a:prstGeom>
          <a:noFill/>
          <a:ln/>
        </p:spPr>
        <p:txBody>
          <a:bodyPr wrap="square" lIns="0" tIns="0" rIns="0" bIns="0" rtlCol="0" anchor="t"/>
          <a:lstStyle>
            <a:lvl1pPr algn="l" indent="0" marL="0">
              <a:lnSpc>
                <a:spcPct val="115000"/>
              </a:lnSpc>
              <a:buNone/>
              <a:defRPr lang="en-US" sz="4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2397696"/>
            <a:ext cx="10566400" cy="364750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6790"/>
            <a:ext cx="10045700" cy="866105"/>
          </a:xfrm>
          <a:prstGeom prst="rect">
            <a:avLst/>
          </a:prstGeom>
          <a:noFill/>
          <a:ln/>
        </p:spPr>
        <p:txBody>
          <a:bodyPr wrap="square" lIns="0" tIns="0" rIns="0" bIns="0" rtlCol="0" anchor="t"/>
          <a:lstStyle>
            <a:lvl1pPr algn="l" indent="0" marL="0">
              <a:lnSpc>
                <a:spcPct val="115000"/>
              </a:lnSpc>
              <a:buNone/>
              <a:defRPr lang="en-US" sz="40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2397696"/>
            <a:ext cx="10566400" cy="364750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175775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5501F"/>
                </a:solidFill>
                <a:latin typeface="IBM Plex Sans" pitchFamily="34" charset="0"/>
                <a:ea typeface="IBM Plex Sans" pitchFamily="34" charset="-122"/>
                <a:cs typeface="IBM Plex Sans" pitchFamily="34" charset="-120"/>
              </a:rPr>
              <a:t>THE QUESTION</a:t>
            </a:r>
            <a:endParaRPr lang="en-US" sz="1400" dirty="0"/>
          </a:p>
        </p:txBody>
      </p:sp>
      <p:sp>
        <p:nvSpPr>
          <p:cNvPr id="3" name="Text 1"/>
          <p:cNvSpPr/>
          <p:nvPr>
            <p:ph type="title"/>
          </p:nvPr>
        </p:nvSpPr>
        <p:spPr>
          <a:xfrm>
            <a:off x="812800" y="2362250"/>
            <a:ext cx="9810750" cy="2036961"/>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14213D"/>
                </a:solidFill>
                <a:latin typeface="Source Serif 4" pitchFamily="18" charset="0"/>
                <a:ea typeface="Source Serif 4" pitchFamily="18" charset="-122"/>
                <a:cs typeface="Source Serif 4" pitchFamily="18" charset="-120"/>
              </a:rPr>
              <a:t>How do we keep proprietary scientific knowledge out of AI models?</a:t>
            </a:r>
            <a:endParaRPr lang="en-US" sz="4800" dirty="0"/>
          </a:p>
        </p:txBody>
      </p:sp>
      <p:sp>
        <p:nvSpPr>
          <p:cNvPr id="4" name="Shape 2"/>
          <p:cNvSpPr/>
          <p:nvPr/>
        </p:nvSpPr>
        <p:spPr>
          <a:xfrm>
            <a:off x="825500" y="4729411"/>
            <a:ext cx="0" cy="370830"/>
          </a:xfrm>
          <a:prstGeom prst="line">
            <a:avLst/>
          </a:prstGeom>
          <a:noFill/>
          <a:ln w="25400">
            <a:solidFill>
              <a:srgbClr val="B5501F"/>
            </a:solidFill>
            <a:prstDash val="solid"/>
          </a:ln>
        </p:spPr>
      </p:sp>
      <p:sp>
        <p:nvSpPr>
          <p:cNvPr id="5" name="Text 3"/>
          <p:cNvSpPr/>
          <p:nvPr/>
        </p:nvSpPr>
        <p:spPr>
          <a:xfrm>
            <a:off x="1016000" y="4754811"/>
            <a:ext cx="29217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Directly</a:t>
            </a:r>
            <a:r>
              <a:rPr lang="en-US" sz="1800" dirty="0">
                <a:solidFill>
                  <a:srgbClr val="4A5568"/>
                </a:solidFill>
                <a:latin typeface="IBM Plex Sans" pitchFamily="34" charset="0"/>
                <a:ea typeface="IBM Plex Sans" pitchFamily="34" charset="-122"/>
                <a:cs typeface="IBM Plex Sans" pitchFamily="34" charset="-120"/>
              </a:rPr>
              <a:t> — what we paste in</a:t>
            </a:r>
            <a:endParaRPr lang="en-US" sz="1800" dirty="0"/>
          </a:p>
        </p:txBody>
      </p:sp>
      <p:sp>
        <p:nvSpPr>
          <p:cNvPr id="6" name="Shape 4"/>
          <p:cNvSpPr/>
          <p:nvPr/>
        </p:nvSpPr>
        <p:spPr>
          <a:xfrm>
            <a:off x="4271764" y="4729411"/>
            <a:ext cx="0" cy="370830"/>
          </a:xfrm>
          <a:prstGeom prst="line">
            <a:avLst/>
          </a:prstGeom>
          <a:noFill/>
          <a:ln w="25400">
            <a:solidFill>
              <a:srgbClr val="B5501F"/>
            </a:solidFill>
            <a:prstDash val="solid"/>
          </a:ln>
        </p:spPr>
      </p:sp>
      <p:sp>
        <p:nvSpPr>
          <p:cNvPr id="7" name="Text 5"/>
          <p:cNvSpPr/>
          <p:nvPr/>
        </p:nvSpPr>
        <p:spPr>
          <a:xfrm>
            <a:off x="4462264" y="4754811"/>
            <a:ext cx="333473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IBM Plex Sans" pitchFamily="34" charset="0"/>
                <a:ea typeface="IBM Plex Sans" pitchFamily="34" charset="-122"/>
                <a:cs typeface="IBM Plex Sans" pitchFamily="34" charset="-120"/>
              </a:rPr>
              <a:t>Indirectly</a:t>
            </a:r>
            <a:r>
              <a:rPr lang="en-US" sz="1800" dirty="0">
                <a:solidFill>
                  <a:srgbClr val="4A5568"/>
                </a:solidFill>
                <a:latin typeface="IBM Plex Sans" pitchFamily="34" charset="0"/>
                <a:ea typeface="IBM Plex Sans" pitchFamily="34" charset="-122"/>
                <a:cs typeface="IBM Plex Sans" pitchFamily="34" charset="-120"/>
              </a:rPr>
              <a:t> — what we ask about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5501F"/>
                </a:solidFill>
                <a:latin typeface="IBM Plex Sans" pitchFamily="34" charset="0"/>
                <a:ea typeface="IBM Plex Sans" pitchFamily="34" charset="-122"/>
                <a:cs typeface="IBM Plex Sans" pitchFamily="34" charset="-120"/>
              </a:rPr>
              <a:t>OUR APPROACH</a:t>
            </a:r>
            <a:endParaRPr lang="en-US" sz="1400" dirty="0"/>
          </a:p>
        </p:txBody>
      </p:sp>
      <p:sp>
        <p:nvSpPr>
          <p:cNvPr id="3" name="Text 1"/>
          <p:cNvSpPr/>
          <p:nvPr>
            <p:ph type="title"/>
          </p:nvPr>
        </p:nvSpPr>
        <p:spPr>
          <a:xfrm>
            <a:off x="812800" y="126489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14213D"/>
                </a:solidFill>
                <a:latin typeface="Source Serif 4" pitchFamily="18" charset="0"/>
                <a:ea typeface="Source Serif 4" pitchFamily="18" charset="-122"/>
                <a:cs typeface="Source Serif 4" pitchFamily="18" charset="-120"/>
              </a:rPr>
              <a:t>Measure the leak with an independent third-party tool.</a:t>
            </a:r>
            <a:endParaRPr lang="en-US" sz="4400" dirty="0"/>
          </a:p>
        </p:txBody>
      </p:sp>
      <p:sp>
        <p:nvSpPr>
          <p:cNvPr id="4" name="Text 2"/>
          <p:cNvSpPr/>
          <p:nvPr/>
        </p:nvSpPr>
        <p:spPr>
          <a:xfrm>
            <a:off x="812800" y="269741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Our paste-checker prevents leaks; this measures what still gets through.</a:t>
            </a:r>
            <a:endParaRPr lang="en-US" sz="1600" dirty="0"/>
          </a:p>
        </p:txBody>
      </p:sp>
      <p:sp>
        <p:nvSpPr>
          <p:cNvPr id="5" name="Shape 3"/>
          <p:cNvSpPr/>
          <p:nvPr/>
        </p:nvSpPr>
        <p:spPr>
          <a:xfrm>
            <a:off x="812800" y="4907310"/>
            <a:ext cx="3386634" cy="1137890"/>
          </a:xfrm>
          <a:prstGeom prst="roundRect">
            <a:avLst>
              <a:gd name="adj" fmla="val 8929"/>
            </a:avLst>
          </a:prstGeom>
          <a:solidFill>
            <a:srgbClr val="F6F5F1"/>
          </a:solidFill>
          <a:ln/>
        </p:spPr>
      </p:sp>
      <p:sp>
        <p:nvSpPr>
          <p:cNvPr id="6" name="Text 4"/>
          <p:cNvSpPr/>
          <p:nvPr/>
        </p:nvSpPr>
        <p:spPr>
          <a:xfrm>
            <a:off x="1066800" y="516131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Independent</a:t>
            </a:r>
            <a:endParaRPr lang="en-US" sz="2000" dirty="0"/>
          </a:p>
        </p:txBody>
      </p:sp>
      <p:sp>
        <p:nvSpPr>
          <p:cNvPr id="7" name="Text 5"/>
          <p:cNvSpPr/>
          <p:nvPr/>
        </p:nvSpPr>
        <p:spPr>
          <a:xfrm>
            <a:off x="1066800" y="5542310"/>
            <a:ext cx="29649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No one grades their own work</a:t>
            </a:r>
            <a:endParaRPr lang="en-US" sz="1400" dirty="0"/>
          </a:p>
        </p:txBody>
      </p:sp>
      <p:sp>
        <p:nvSpPr>
          <p:cNvPr id="8" name="Shape 6"/>
          <p:cNvSpPr/>
          <p:nvPr/>
        </p:nvSpPr>
        <p:spPr>
          <a:xfrm>
            <a:off x="4402634" y="4907310"/>
            <a:ext cx="3386683" cy="1137890"/>
          </a:xfrm>
          <a:prstGeom prst="roundRect">
            <a:avLst>
              <a:gd name="adj" fmla="val 8929"/>
            </a:avLst>
          </a:prstGeom>
          <a:solidFill>
            <a:srgbClr val="F6F5F1"/>
          </a:solidFill>
          <a:ln/>
        </p:spPr>
      </p:sp>
      <p:sp>
        <p:nvSpPr>
          <p:cNvPr id="9" name="Text 7"/>
          <p:cNvSpPr/>
          <p:nvPr/>
        </p:nvSpPr>
        <p:spPr>
          <a:xfrm>
            <a:off x="4656634" y="516131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Measurable</a:t>
            </a:r>
            <a:endParaRPr lang="en-US" sz="2000" dirty="0"/>
          </a:p>
        </p:txBody>
      </p:sp>
      <p:sp>
        <p:nvSpPr>
          <p:cNvPr id="10" name="Text 8"/>
          <p:cNvSpPr/>
          <p:nvPr/>
        </p:nvSpPr>
        <p:spPr>
          <a:xfrm>
            <a:off x="4656634" y="5542310"/>
            <a:ext cx="29650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score, not a promise</a:t>
            </a:r>
            <a:endParaRPr lang="en-US" sz="1400" dirty="0"/>
          </a:p>
        </p:txBody>
      </p:sp>
      <p:sp>
        <p:nvSpPr>
          <p:cNvPr id="11" name="Shape 9"/>
          <p:cNvSpPr/>
          <p:nvPr/>
        </p:nvSpPr>
        <p:spPr>
          <a:xfrm>
            <a:off x="7992517" y="4907310"/>
            <a:ext cx="3386683" cy="1137890"/>
          </a:xfrm>
          <a:prstGeom prst="roundRect">
            <a:avLst>
              <a:gd name="adj" fmla="val 8929"/>
            </a:avLst>
          </a:prstGeom>
          <a:solidFill>
            <a:srgbClr val="F6F5F1"/>
          </a:solidFill>
          <a:ln/>
        </p:spPr>
      </p:sp>
      <p:sp>
        <p:nvSpPr>
          <p:cNvPr id="12" name="Text 10"/>
          <p:cNvSpPr/>
          <p:nvPr/>
        </p:nvSpPr>
        <p:spPr>
          <a:xfrm>
            <a:off x="8246517" y="516131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Repeatable</a:t>
            </a:r>
            <a:endParaRPr lang="en-US" sz="2000" dirty="0"/>
          </a:p>
        </p:txBody>
      </p:sp>
      <p:sp>
        <p:nvSpPr>
          <p:cNvPr id="13" name="Text 11"/>
          <p:cNvSpPr/>
          <p:nvPr/>
        </p:nvSpPr>
        <p:spPr>
          <a:xfrm>
            <a:off x="8246517" y="5542310"/>
            <a:ext cx="29650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Re-run as models change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5501F"/>
                </a:solidFill>
                <a:latin typeface="IBM Plex Sans" pitchFamily="34" charset="0"/>
                <a:ea typeface="IBM Plex Sans" pitchFamily="34" charset="-122"/>
                <a:cs typeface="IBM Plex Sans" pitchFamily="34" charset="-120"/>
              </a:rPr>
              <a:t>OUR METHODOLOGY</a:t>
            </a:r>
            <a:endParaRPr lang="en-US" sz="1400" dirty="0"/>
          </a:p>
        </p:txBody>
      </p:sp>
      <p:sp>
        <p:nvSpPr>
          <p:cNvPr id="3" name="Text 1"/>
          <p:cNvSpPr/>
          <p:nvPr>
            <p:ph type="title"/>
          </p:nvPr>
        </p:nvSpPr>
        <p:spPr>
          <a:xfrm>
            <a:off x="812800" y="11886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Source Serif 4" pitchFamily="18" charset="0"/>
                <a:ea typeface="Source Serif 4" pitchFamily="18" charset="-122"/>
                <a:cs typeface="Source Serif 4" pitchFamily="18" charset="-120"/>
              </a:rPr>
              <a:t>Three steps to a leak score</a:t>
            </a:r>
            <a:endParaRPr lang="en-US" sz="3600" dirty="0"/>
          </a:p>
        </p:txBody>
      </p:sp>
      <p:sp>
        <p:nvSpPr>
          <p:cNvPr id="4" name="Shape 2"/>
          <p:cNvSpPr/>
          <p:nvPr/>
        </p:nvSpPr>
        <p:spPr>
          <a:xfrm>
            <a:off x="812800" y="2664520"/>
            <a:ext cx="3081834" cy="1904901"/>
          </a:xfrm>
          <a:prstGeom prst="roundRect">
            <a:avLst>
              <a:gd name="adj" fmla="val 5334"/>
            </a:avLst>
          </a:prstGeom>
          <a:solidFill>
            <a:srgbClr val="F6F5F1"/>
          </a:solidFill>
          <a:ln/>
        </p:spPr>
      </p:sp>
      <p:sp>
        <p:nvSpPr>
          <p:cNvPr id="5" name="Text 3"/>
          <p:cNvSpPr/>
          <p:nvPr/>
        </p:nvSpPr>
        <p:spPr>
          <a:xfrm>
            <a:off x="1066800" y="2918520"/>
            <a:ext cx="265104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690"/>
                </a:solidFill>
                <a:latin typeface="Source Serif 4" pitchFamily="18" charset="0"/>
                <a:ea typeface="Source Serif 4" pitchFamily="18" charset="-122"/>
                <a:cs typeface="Source Serif 4" pitchFamily="18" charset="-120"/>
              </a:rPr>
              <a:t>01</a:t>
            </a:r>
            <a:endParaRPr lang="en-US" sz="2200" dirty="0"/>
          </a:p>
        </p:txBody>
      </p:sp>
      <p:sp>
        <p:nvSpPr>
          <p:cNvPr id="6" name="Text 4"/>
          <p:cNvSpPr/>
          <p:nvPr/>
        </p:nvSpPr>
        <p:spPr>
          <a:xfrm>
            <a:off x="1066800" y="3411240"/>
            <a:ext cx="265104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Condense</a:t>
            </a:r>
            <a:endParaRPr lang="en-US" sz="2000" dirty="0"/>
          </a:p>
        </p:txBody>
      </p:sp>
      <p:sp>
        <p:nvSpPr>
          <p:cNvPr id="7" name="Text 5"/>
          <p:cNvSpPr/>
          <p:nvPr/>
        </p:nvSpPr>
        <p:spPr>
          <a:xfrm>
            <a:off x="1066800" y="3817640"/>
            <a:ext cx="265104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All our AI queries, distilled</a:t>
            </a:r>
            <a:endParaRPr lang="en-US" sz="1400" dirty="0"/>
          </a:p>
        </p:txBody>
      </p:sp>
      <p:pic>
        <p:nvPicPr>
          <p:cNvPr id="8" name="Image 0" descr="arrow-right">    </p:cNvPr>
          <p:cNvPicPr>
            <a:picLocks noChangeAspect="1"/>
          </p:cNvPicPr>
          <p:nvPr/>
        </p:nvPicPr>
        <p:blipFill>
          <a:blip r:embed="rId1"/>
          <a:srcRect l="0" r="0" t="0" b="0"/>
          <a:stretch/>
        </p:blipFill>
        <p:spPr>
          <a:xfrm>
            <a:off x="4047034" y="3528070"/>
            <a:ext cx="355600" cy="177800"/>
          </a:xfrm>
          <a:prstGeom prst="rect">
            <a:avLst/>
          </a:prstGeom>
        </p:spPr>
      </p:pic>
      <p:sp>
        <p:nvSpPr>
          <p:cNvPr id="9" name="Shape 6"/>
          <p:cNvSpPr/>
          <p:nvPr/>
        </p:nvSpPr>
        <p:spPr>
          <a:xfrm>
            <a:off x="4555034" y="2664520"/>
            <a:ext cx="3081883" cy="1904901"/>
          </a:xfrm>
          <a:prstGeom prst="roundRect">
            <a:avLst>
              <a:gd name="adj" fmla="val 5334"/>
            </a:avLst>
          </a:prstGeom>
          <a:solidFill>
            <a:srgbClr val="F6F5F1"/>
          </a:solidFill>
          <a:ln/>
        </p:spPr>
      </p:sp>
      <p:sp>
        <p:nvSpPr>
          <p:cNvPr id="10" name="Text 7"/>
          <p:cNvSpPr/>
          <p:nvPr/>
        </p:nvSpPr>
        <p:spPr>
          <a:xfrm>
            <a:off x="4809034" y="2918520"/>
            <a:ext cx="2651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690"/>
                </a:solidFill>
                <a:latin typeface="Source Serif 4" pitchFamily="18" charset="0"/>
                <a:ea typeface="Source Serif 4" pitchFamily="18" charset="-122"/>
                <a:cs typeface="Source Serif 4" pitchFamily="18" charset="-120"/>
              </a:rPr>
              <a:t>02</a:t>
            </a:r>
            <a:endParaRPr lang="en-US" sz="2200" dirty="0"/>
          </a:p>
        </p:txBody>
      </p:sp>
      <p:sp>
        <p:nvSpPr>
          <p:cNvPr id="11" name="Text 8"/>
          <p:cNvSpPr/>
          <p:nvPr/>
        </p:nvSpPr>
        <p:spPr>
          <a:xfrm>
            <a:off x="4809034" y="3411240"/>
            <a:ext cx="26511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Fingerprint</a:t>
            </a:r>
            <a:endParaRPr lang="en-US" sz="2000" dirty="0"/>
          </a:p>
        </p:txBody>
      </p:sp>
      <p:sp>
        <p:nvSpPr>
          <p:cNvPr id="12" name="Text 9"/>
          <p:cNvSpPr/>
          <p:nvPr/>
        </p:nvSpPr>
        <p:spPr>
          <a:xfrm>
            <a:off x="4809034" y="3817640"/>
            <a:ext cx="26511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Sharp facts no model could already know</a:t>
            </a:r>
            <a:endParaRPr lang="en-US" sz="1400" dirty="0"/>
          </a:p>
        </p:txBody>
      </p:sp>
      <p:pic>
        <p:nvPicPr>
          <p:cNvPr id="13" name="Image 1" descr="arrow-right">    </p:cNvPr>
          <p:cNvPicPr>
            <a:picLocks noChangeAspect="1"/>
          </p:cNvPicPr>
          <p:nvPr/>
        </p:nvPicPr>
        <p:blipFill>
          <a:blip r:embed="rId2"/>
          <a:srcRect l="0" r="0" t="0" b="0"/>
          <a:stretch/>
        </p:blipFill>
        <p:spPr>
          <a:xfrm>
            <a:off x="7789317" y="3528070"/>
            <a:ext cx="355600" cy="177800"/>
          </a:xfrm>
          <a:prstGeom prst="rect">
            <a:avLst/>
          </a:prstGeom>
        </p:spPr>
      </p:pic>
      <p:sp>
        <p:nvSpPr>
          <p:cNvPr id="14" name="Shape 10"/>
          <p:cNvSpPr/>
          <p:nvPr/>
        </p:nvSpPr>
        <p:spPr>
          <a:xfrm>
            <a:off x="8297317" y="2664520"/>
            <a:ext cx="3081883" cy="1904901"/>
          </a:xfrm>
          <a:prstGeom prst="roundRect">
            <a:avLst>
              <a:gd name="adj" fmla="val 5334"/>
            </a:avLst>
          </a:prstGeom>
          <a:solidFill>
            <a:srgbClr val="F6F5F1"/>
          </a:solidFill>
          <a:ln/>
        </p:spPr>
      </p:sp>
      <p:sp>
        <p:nvSpPr>
          <p:cNvPr id="15" name="Text 11"/>
          <p:cNvSpPr/>
          <p:nvPr/>
        </p:nvSpPr>
        <p:spPr>
          <a:xfrm>
            <a:off x="8551317" y="2918520"/>
            <a:ext cx="26511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690"/>
                </a:solidFill>
                <a:latin typeface="Source Serif 4" pitchFamily="18" charset="0"/>
                <a:ea typeface="Source Serif 4" pitchFamily="18" charset="-122"/>
                <a:cs typeface="Source Serif 4" pitchFamily="18" charset="-120"/>
              </a:rPr>
              <a:t>03</a:t>
            </a:r>
            <a:endParaRPr lang="en-US" sz="2200" dirty="0"/>
          </a:p>
        </p:txBody>
      </p:sp>
      <p:sp>
        <p:nvSpPr>
          <p:cNvPr id="16" name="Text 12"/>
          <p:cNvSpPr/>
          <p:nvPr/>
        </p:nvSpPr>
        <p:spPr>
          <a:xfrm>
            <a:off x="8551317" y="3411240"/>
            <a:ext cx="26511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Probe</a:t>
            </a:r>
            <a:endParaRPr lang="en-US" sz="2000" dirty="0"/>
          </a:p>
        </p:txBody>
      </p:sp>
      <p:sp>
        <p:nvSpPr>
          <p:cNvPr id="17" name="Text 13"/>
          <p:cNvSpPr/>
          <p:nvPr/>
        </p:nvSpPr>
        <p:spPr>
          <a:xfrm>
            <a:off x="8551317" y="3817640"/>
            <a:ext cx="26511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Ask the models, score the answers</a:t>
            </a:r>
            <a:endParaRPr lang="en-US" sz="1400" dirty="0"/>
          </a:p>
        </p:txBody>
      </p:sp>
      <p:sp>
        <p:nvSpPr>
          <p:cNvPr id="18" name="Shape 14"/>
          <p:cNvSpPr/>
          <p:nvPr/>
        </p:nvSpPr>
        <p:spPr>
          <a:xfrm>
            <a:off x="812800" y="5542310"/>
            <a:ext cx="10566400" cy="152400"/>
          </a:xfrm>
          <a:prstGeom prst="roundRect">
            <a:avLst>
              <a:gd name="adj" fmla="val 50000"/>
            </a:avLst>
          </a:prstGeom>
          <a:gradFill rotWithShape="1">
            <a:gsLst>
              <a:gs pos="0">
                <a:srgbClr val="2F6690"/>
              </a:gs>
              <a:gs pos="100000">
                <a:srgbClr val="B5501F"/>
              </a:gs>
            </a:gsLst>
            <a:lin ang="0" scaled="0"/>
          </a:gradFill>
          <a:ln/>
        </p:spPr>
      </p:sp>
      <p:sp>
        <p:nvSpPr>
          <p:cNvPr id="19" name="Text 15"/>
          <p:cNvSpPr/>
          <p:nvPr/>
        </p:nvSpPr>
        <p:spPr>
          <a:xfrm>
            <a:off x="812800" y="5796310"/>
            <a:ext cx="107584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0%</a:t>
            </a:r>
            <a:r>
              <a:rPr lang="en-US" sz="1400" dirty="0">
                <a:solidFill>
                  <a:srgbClr val="4A5568"/>
                </a:solidFill>
                <a:latin typeface="IBM Plex Sans" pitchFamily="34" charset="0"/>
                <a:ea typeface="IBM Plex Sans" pitchFamily="34" charset="-122"/>
                <a:cs typeface="IBM Plex Sans" pitchFamily="34" charset="-120"/>
              </a:rPr>
              <a:t> no leak</a:t>
            </a:r>
            <a:endParaRPr lang="en-US" sz="1400" dirty="0"/>
          </a:p>
        </p:txBody>
      </p:sp>
      <p:sp>
        <p:nvSpPr>
          <p:cNvPr id="20" name="Text 16"/>
          <p:cNvSpPr/>
          <p:nvPr/>
        </p:nvSpPr>
        <p:spPr>
          <a:xfrm>
            <a:off x="9982656" y="5796310"/>
            <a:ext cx="1396544"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100%</a:t>
            </a:r>
            <a:r>
              <a:rPr lang="en-US" sz="1400" dirty="0">
                <a:solidFill>
                  <a:srgbClr val="4A5568"/>
                </a:solidFill>
                <a:latin typeface="IBM Plex Sans" pitchFamily="34" charset="0"/>
                <a:ea typeface="IBM Plex Sans" pitchFamily="34" charset="-122"/>
                <a:cs typeface="IBM Plex Sans" pitchFamily="34" charset="-120"/>
              </a:rPr>
              <a:t> full leak</a:t>
            </a:r>
            <a:endParaRPr lang="en-US" sz="14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1188690"/>
            <a:ext cx="10566400" cy="528290"/>
          </a:xfrm>
        </p:spPr>
        <p:txBody>
          <a:bodyPr lIns="0" rIns="0" tIns="0" bIns="0" anchor="t"/>
          <a:lstStyle/>
          <a:p>
            <a:pPr algn="l"/>
            <a:r>
              <a:rPr sz="3600" b="0">
                <a:solidFill>
                  <a:srgbClr val="14213D"/>
                </a:solidFill>
                <a:latin typeface="Source Serif 4"/>
                <a:ea typeface="Source Serif 4"/>
                <a:cs typeface="Source Serif 4"/>
              </a:rPr>
              <a:t>Leakprobe: what goes in, what comes out</a:t>
            </a:r>
          </a:p>
        </p:txBody>
      </p:sp>
      <p:sp>
        <p:nvSpPr>
          <p:cNvPr id="3" name="Eyebrow"/>
          <p:cNvSpPr txBox="1"/>
          <p:nvPr/>
        </p:nvSpPr>
        <p:spPr>
          <a:xfrm>
            <a:off x="812800" y="812800"/>
            <a:ext cx="10566400" cy="274290"/>
          </a:xfrm>
          <a:prstGeom prst="rect">
            <a:avLst/>
          </a:prstGeom>
          <a:noFill/>
        </p:spPr>
        <p:txBody>
          <a:bodyPr wrap="square" lIns="0" rIns="0" tIns="0" bIns="0" anchor="t">
            <a:spAutoFit/>
          </a:bodyPr>
          <a:lstStyle/>
          <a:p>
            <a:pPr algn="l"/>
            <a:r>
              <a:rPr sz="1400" b="1" spc="200">
                <a:solidFill>
                  <a:srgbClr val="B5501F"/>
                </a:solidFill>
                <a:latin typeface="IBM Plex Sans"/>
                <a:ea typeface="IBM Plex Sans"/>
                <a:cs typeface="IBM Plex Sans"/>
              </a:rPr>
              <a:t>THE TOOL</a:t>
            </a:r>
          </a:p>
        </p:txBody>
      </p:sp>
      <p:sp>
        <p:nvSpPr>
          <p:cNvPr id="4" name="Card 1"/>
          <p:cNvSpPr/>
          <p:nvPr/>
        </p:nvSpPr>
        <p:spPr>
          <a:xfrm>
            <a:off x="812800" y="2286000"/>
            <a:ext cx="3369733" cy="114300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rd 1 text"/>
          <p:cNvSpPr txBox="1"/>
          <p:nvPr/>
        </p:nvSpPr>
        <p:spPr>
          <a:xfrm>
            <a:off x="1041400" y="2514600"/>
            <a:ext cx="2912533" cy="685800"/>
          </a:xfrm>
          <a:prstGeom prst="rect">
            <a:avLst/>
          </a:prstGeom>
          <a:noFill/>
        </p:spPr>
        <p:txBody>
          <a:bodyPr wrap="square" lIns="0" rIns="0" tIns="0" bIns="0" anchor="t">
            <a:spAutoFit/>
          </a:bodyPr>
          <a:lstStyle/>
          <a:p>
            <a:pPr algn="l">
              <a:spcAft>
                <a:spcPts val="600"/>
              </a:spcAft>
            </a:pPr>
            <a:r>
              <a:rPr sz="1800" b="1">
                <a:solidFill>
                  <a:srgbClr val="14213D"/>
                </a:solidFill>
                <a:latin typeface="IBM Plex Sans"/>
                <a:ea typeface="IBM Plex Sans"/>
                <a:cs typeface="IBM Plex Sans"/>
              </a:rPr>
              <a:t>In: our query log</a:t>
            </a:r>
          </a:p>
          <a:p>
            <a:pPr algn="l"/>
            <a:r>
              <a:rPr sz="1400" b="0">
                <a:solidFill>
                  <a:srgbClr val="4A5568"/>
                </a:solidFill>
                <a:latin typeface="IBM Plex Sans"/>
                <a:ea typeface="IBM Plex Sans"/>
                <a:cs typeface="IBM Plex Sans"/>
              </a:rPr>
              <a:t>AI gateway or chat exports, plus public papers as a baseline</a:t>
            </a:r>
          </a:p>
        </p:txBody>
      </p:sp>
      <p:sp>
        <p:nvSpPr>
          <p:cNvPr id="6" name="Card 2"/>
          <p:cNvSpPr/>
          <p:nvPr/>
        </p:nvSpPr>
        <p:spPr>
          <a:xfrm>
            <a:off x="4411133" y="2286000"/>
            <a:ext cx="3369733" cy="114300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 2 text"/>
          <p:cNvSpPr txBox="1"/>
          <p:nvPr/>
        </p:nvSpPr>
        <p:spPr>
          <a:xfrm>
            <a:off x="4639733" y="2514600"/>
            <a:ext cx="2912533" cy="685800"/>
          </a:xfrm>
          <a:prstGeom prst="rect">
            <a:avLst/>
          </a:prstGeom>
          <a:noFill/>
        </p:spPr>
        <p:txBody>
          <a:bodyPr wrap="square" lIns="0" rIns="0" tIns="0" bIns="0" anchor="t">
            <a:spAutoFit/>
          </a:bodyPr>
          <a:lstStyle/>
          <a:p>
            <a:pPr algn="l">
              <a:spcAft>
                <a:spcPts val="600"/>
              </a:spcAft>
            </a:pPr>
            <a:r>
              <a:rPr sz="1800" b="1">
                <a:solidFill>
                  <a:srgbClr val="14213D"/>
                </a:solidFill>
                <a:latin typeface="IBM Plex Sans"/>
                <a:ea typeface="IBM Plex Sans"/>
                <a:cs typeface="IBM Plex Sans"/>
              </a:rPr>
              <a:t>Finds sharp facts</a:t>
            </a:r>
          </a:p>
          <a:p>
            <a:pPr algn="l"/>
            <a:r>
              <a:rPr sz="1400" b="0">
                <a:solidFill>
                  <a:srgbClr val="4A5568"/>
                </a:solidFill>
                <a:latin typeface="IBM Plex Sans"/>
                <a:ea typeface="IBM Plex Sans"/>
                <a:cs typeface="IBM Plex Sans"/>
              </a:rPr>
              <a:t>Compound and target IDs, assay values, program leads, sequences</a:t>
            </a:r>
          </a:p>
        </p:txBody>
      </p:sp>
      <p:sp>
        <p:nvSpPr>
          <p:cNvPr id="8" name="Card 3"/>
          <p:cNvSpPr/>
          <p:nvPr/>
        </p:nvSpPr>
        <p:spPr>
          <a:xfrm>
            <a:off x="8009466" y="2286000"/>
            <a:ext cx="3369733" cy="114300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3 text"/>
          <p:cNvSpPr txBox="1"/>
          <p:nvPr/>
        </p:nvSpPr>
        <p:spPr>
          <a:xfrm>
            <a:off x="8238066" y="2514600"/>
            <a:ext cx="2912533" cy="685800"/>
          </a:xfrm>
          <a:prstGeom prst="rect">
            <a:avLst/>
          </a:prstGeom>
          <a:noFill/>
        </p:spPr>
        <p:txBody>
          <a:bodyPr wrap="square" lIns="0" rIns="0" tIns="0" bIns="0" anchor="t">
            <a:spAutoFit/>
          </a:bodyPr>
          <a:lstStyle/>
          <a:p>
            <a:pPr algn="l">
              <a:spcAft>
                <a:spcPts val="600"/>
              </a:spcAft>
            </a:pPr>
            <a:r>
              <a:rPr sz="1800" b="1">
                <a:solidFill>
                  <a:srgbClr val="14213D"/>
                </a:solidFill>
                <a:latin typeface="IBM Plex Sans"/>
                <a:ea typeface="IBM Plex Sans"/>
                <a:cs typeface="IBM Plex Sans"/>
              </a:rPr>
              <a:t>Pairs each with a decoy</a:t>
            </a:r>
          </a:p>
          <a:p>
            <a:pPr algn="l"/>
            <a:r>
              <a:rPr sz="1400" b="0">
                <a:solidFill>
                  <a:srgbClr val="4A5568"/>
                </a:solidFill>
                <a:latin typeface="IBM Plex Sans"/>
                <a:ea typeface="IBM Plex Sans"/>
                <a:cs typeface="IBM Plex Sans"/>
              </a:rPr>
              <a:t>Fabricated, same shape, never shared: measures pure guessing</a:t>
            </a:r>
          </a:p>
        </p:txBody>
      </p:sp>
      <p:sp>
        <p:nvSpPr>
          <p:cNvPr id="10" name="Card 4"/>
          <p:cNvSpPr/>
          <p:nvPr/>
        </p:nvSpPr>
        <p:spPr>
          <a:xfrm>
            <a:off x="812800" y="3611880"/>
            <a:ext cx="3369733" cy="114300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rd 4 text"/>
          <p:cNvSpPr txBox="1"/>
          <p:nvPr/>
        </p:nvSpPr>
        <p:spPr>
          <a:xfrm>
            <a:off x="1041400" y="3840480"/>
            <a:ext cx="2912533" cy="685800"/>
          </a:xfrm>
          <a:prstGeom prst="rect">
            <a:avLst/>
          </a:prstGeom>
          <a:noFill/>
        </p:spPr>
        <p:txBody>
          <a:bodyPr wrap="square" lIns="0" rIns="0" tIns="0" bIns="0" anchor="t">
            <a:spAutoFit/>
          </a:bodyPr>
          <a:lstStyle/>
          <a:p>
            <a:pPr algn="l">
              <a:spcAft>
                <a:spcPts val="600"/>
              </a:spcAft>
            </a:pPr>
            <a:r>
              <a:rPr sz="1800" b="1">
                <a:solidFill>
                  <a:srgbClr val="14213D"/>
                </a:solidFill>
                <a:latin typeface="IBM Plex Sans"/>
                <a:ea typeface="IBM Plex Sans"/>
                <a:cs typeface="IBM Plex Sans"/>
              </a:rPr>
              <a:t>Probes any model</a:t>
            </a:r>
          </a:p>
          <a:p>
            <a:pPr algn="l"/>
            <a:r>
              <a:rPr sz="1400" b="0">
                <a:solidFill>
                  <a:srgbClr val="4A5568"/>
                </a:solidFill>
                <a:latin typeface="IBM Plex Sans"/>
                <a:ea typeface="IBM Plex Sans"/>
                <a:cs typeface="IBM Plex Sans"/>
              </a:rPr>
              <a:t>Claude, GPT, or any OpenAI-compatible or local model</a:t>
            </a:r>
          </a:p>
        </p:txBody>
      </p:sp>
      <p:sp>
        <p:nvSpPr>
          <p:cNvPr id="12" name="Card 5"/>
          <p:cNvSpPr/>
          <p:nvPr/>
        </p:nvSpPr>
        <p:spPr>
          <a:xfrm>
            <a:off x="4411133" y="3611880"/>
            <a:ext cx="3369733" cy="114300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 5 text"/>
          <p:cNvSpPr txBox="1"/>
          <p:nvPr/>
        </p:nvSpPr>
        <p:spPr>
          <a:xfrm>
            <a:off x="4639733" y="3840480"/>
            <a:ext cx="2912533" cy="685800"/>
          </a:xfrm>
          <a:prstGeom prst="rect">
            <a:avLst/>
          </a:prstGeom>
          <a:noFill/>
        </p:spPr>
        <p:txBody>
          <a:bodyPr wrap="square" lIns="0" rIns="0" tIns="0" bIns="0" anchor="t">
            <a:spAutoFit/>
          </a:bodyPr>
          <a:lstStyle/>
          <a:p>
            <a:pPr algn="l">
              <a:spcAft>
                <a:spcPts val="600"/>
              </a:spcAft>
            </a:pPr>
            <a:r>
              <a:rPr sz="1800" b="1">
                <a:solidFill>
                  <a:srgbClr val="14213D"/>
                </a:solidFill>
                <a:latin typeface="IBM Plex Sans"/>
                <a:ea typeface="IBM Plex Sans"/>
                <a:cs typeface="IBM Plex Sans"/>
              </a:rPr>
              <a:t>Out: a scored report</a:t>
            </a:r>
          </a:p>
          <a:p>
            <a:pPr algn="l"/>
            <a:r>
              <a:rPr sz="1400" b="0">
                <a:solidFill>
                  <a:srgbClr val="4A5568"/>
                </a:solidFill>
                <a:latin typeface="IBM Plex Sans"/>
                <a:ea typeface="IBM Plex Sans"/>
                <a:cs typeface="IBM Plex Sans"/>
              </a:rPr>
              <a:t>Leak score, 95% interval and the facts each model reproduced</a:t>
            </a:r>
          </a:p>
        </p:txBody>
      </p:sp>
      <p:sp>
        <p:nvSpPr>
          <p:cNvPr id="14" name="Card 6"/>
          <p:cNvSpPr/>
          <p:nvPr/>
        </p:nvSpPr>
        <p:spPr>
          <a:xfrm>
            <a:off x="8009466" y="3611880"/>
            <a:ext cx="3369733" cy="114300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d 6 text"/>
          <p:cNvSpPr txBox="1"/>
          <p:nvPr/>
        </p:nvSpPr>
        <p:spPr>
          <a:xfrm>
            <a:off x="8238066" y="3840480"/>
            <a:ext cx="2912533" cy="685800"/>
          </a:xfrm>
          <a:prstGeom prst="rect">
            <a:avLst/>
          </a:prstGeom>
          <a:noFill/>
        </p:spPr>
        <p:txBody>
          <a:bodyPr wrap="square" lIns="0" rIns="0" tIns="0" bIns="0" anchor="t">
            <a:spAutoFit/>
          </a:bodyPr>
          <a:lstStyle/>
          <a:p>
            <a:pPr algn="l">
              <a:spcAft>
                <a:spcPts val="600"/>
              </a:spcAft>
            </a:pPr>
            <a:r>
              <a:rPr sz="1800" b="1">
                <a:solidFill>
                  <a:srgbClr val="14213D"/>
                </a:solidFill>
                <a:latin typeface="IBM Plex Sans"/>
                <a:ea typeface="IBM Plex Sans"/>
                <a:cs typeface="IBM Plex Sans"/>
              </a:rPr>
              <a:t>Runs on a schedule</a:t>
            </a:r>
          </a:p>
          <a:p>
            <a:pPr algn="l"/>
            <a:r>
              <a:rPr sz="1400" b="0">
                <a:solidFill>
                  <a:srgbClr val="4A5568"/>
                </a:solidFill>
                <a:latin typeface="IBM Plex Sans"/>
                <a:ea typeface="IBM Plex Sans"/>
                <a:cs typeface="IBM Plex Sans"/>
              </a:rPr>
              <a:t>Plain Python, tested; flags any score above a threshold</a:t>
            </a:r>
          </a:p>
        </p:txBody>
      </p:sp>
      <p:sp>
        <p:nvSpPr>
          <p:cNvPr id="16" name="Command"/>
          <p:cNvSpPr/>
          <p:nvPr/>
        </p:nvSpPr>
        <p:spPr>
          <a:xfrm>
            <a:off x="812800" y="4983480"/>
            <a:ext cx="10566400" cy="640080"/>
          </a:xfrm>
          <a:prstGeom prst="roundRect">
            <a:avLst>
              <a:gd name="adj" fmla="val 1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mmand text"/>
          <p:cNvSpPr txBox="1"/>
          <p:nvPr/>
        </p:nvSpPr>
        <p:spPr>
          <a:xfrm>
            <a:off x="1132840" y="4983480"/>
            <a:ext cx="9926320" cy="640080"/>
          </a:xfrm>
          <a:prstGeom prst="rect">
            <a:avLst/>
          </a:prstGeom>
          <a:noFill/>
        </p:spPr>
        <p:txBody>
          <a:bodyPr wrap="square" lIns="0" rIns="0" tIns="0" bIns="0" anchor="ctr">
            <a:spAutoFit/>
          </a:bodyPr>
          <a:lstStyle/>
          <a:p>
            <a:pPr algn="l"/>
            <a:r>
              <a:rPr sz="1600" b="0">
                <a:solidFill>
                  <a:srgbClr val="F2A65A"/>
                </a:solidFill>
                <a:latin typeface="IBM Plex Mono"/>
                <a:ea typeface="IBM Plex Mono"/>
                <a:cs typeface="IBM Plex Mono"/>
              </a:rPr>
              <a:t>$ </a:t>
            </a:r>
            <a:r>
              <a:rPr sz="1600" b="0">
                <a:solidFill>
                  <a:srgbClr val="FFFFFF"/>
                </a:solidFill>
                <a:latin typeface="IBM Plex Mono"/>
                <a:ea typeface="IBM Plex Mono"/>
                <a:cs typeface="IBM Plex Mono"/>
              </a:rPr>
              <a:t>leakprobe run queries.jsonl --baseline public/*.txt --model anthropic:&lt;model&gt;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1188690"/>
            <a:ext cx="10566400" cy="528290"/>
          </a:xfrm>
        </p:spPr>
        <p:txBody>
          <a:bodyPr lIns="0" rIns="0" tIns="0" bIns="0" anchor="t"/>
          <a:lstStyle/>
          <a:p>
            <a:pPr algn="l"/>
            <a:r>
              <a:rPr sz="3600" b="0">
                <a:solidFill>
                  <a:srgbClr val="14213D"/>
                </a:solidFill>
                <a:latin typeface="Source Serif 4"/>
                <a:ea typeface="Source Serif 4"/>
                <a:cs typeface="Source Serif 4"/>
              </a:rPr>
              <a:t>Demo: scores matched the hidden truth</a:t>
            </a:r>
          </a:p>
        </p:txBody>
      </p:sp>
      <p:sp>
        <p:nvSpPr>
          <p:cNvPr id="3" name="Eyebrow"/>
          <p:cNvSpPr txBox="1"/>
          <p:nvPr/>
        </p:nvSpPr>
        <p:spPr>
          <a:xfrm>
            <a:off x="812800" y="812800"/>
            <a:ext cx="10566400" cy="274290"/>
          </a:xfrm>
          <a:prstGeom prst="rect">
            <a:avLst/>
          </a:prstGeom>
          <a:noFill/>
        </p:spPr>
        <p:txBody>
          <a:bodyPr wrap="square" lIns="0" rIns="0" tIns="0" bIns="0" anchor="t">
            <a:spAutoFit/>
          </a:bodyPr>
          <a:lstStyle/>
          <a:p>
            <a:pPr algn="l"/>
            <a:r>
              <a:rPr sz="1400" b="1" spc="200">
                <a:solidFill>
                  <a:srgbClr val="B5501F"/>
                </a:solidFill>
                <a:latin typeface="IBM Plex Sans"/>
                <a:ea typeface="IBM Plex Sans"/>
                <a:cs typeface="IBM Plex Sans"/>
              </a:rPr>
              <a:t>SHOWCASE</a:t>
            </a:r>
          </a:p>
        </p:txBody>
      </p:sp>
      <p:graphicFrame>
        <p:nvGraphicFramePr>
          <p:cNvPr id="4" name="Truth vs score chart"/>
          <p:cNvGraphicFramePr>
            <a:graphicFrameLocks noGrp="1"/>
          </p:cNvGraphicFramePr>
          <p:nvPr/>
        </p:nvGraphicFramePr>
        <p:xfrm>
          <a:off x="812800" y="2286000"/>
          <a:ext cx="5852160" cy="3429000"/>
        </p:xfrm>
        <a:graphic>
          <a:graphicData uri="http://schemas.openxmlformats.org/drawingml/2006/chart">
            <c:chart xmlns:c="http://schemas.openxmlformats.org/drawingml/2006/chart" r:id="rId3"/>
          </a:graphicData>
        </a:graphic>
      </p:graphicFrame>
      <p:sp>
        <p:nvSpPr>
          <p:cNvPr id="5" name="Chart caption"/>
          <p:cNvSpPr txBox="1"/>
          <p:nvPr/>
        </p:nvSpPr>
        <p:spPr>
          <a:xfrm>
            <a:off x="812800" y="5806440"/>
            <a:ext cx="5852160" cy="320040"/>
          </a:xfrm>
          <a:prstGeom prst="rect">
            <a:avLst/>
          </a:prstGeom>
          <a:noFill/>
        </p:spPr>
        <p:txBody>
          <a:bodyPr wrap="square" lIns="0" rIns="0" tIns="0" bIns="0" anchor="t">
            <a:spAutoFit/>
          </a:bodyPr>
          <a:lstStyle/>
          <a:p>
            <a:pPr algn="l"/>
            <a:r>
              <a:rPr sz="1200" b="0">
                <a:solidFill>
                  <a:srgbClr val="4A5568"/>
                </a:solidFill>
                <a:latin typeface="IBM Plex Sans"/>
                <a:ea typeface="IBM Plex Sans"/>
                <a:cs typeface="IBM Plex Sans"/>
              </a:rPr>
              <a:t>95% intervals: 0–8%, 9–29%, 34–62%. Synthetic data, simulated models.</a:t>
            </a:r>
          </a:p>
        </p:txBody>
      </p:sp>
      <p:sp>
        <p:nvSpPr>
          <p:cNvPr id="6" name="Stat 1"/>
          <p:cNvSpPr/>
          <p:nvPr/>
        </p:nvSpPr>
        <p:spPr>
          <a:xfrm>
            <a:off x="7030720" y="2286000"/>
            <a:ext cx="4348480" cy="102108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1 text"/>
          <p:cNvSpPr txBox="1"/>
          <p:nvPr/>
        </p:nvSpPr>
        <p:spPr>
          <a:xfrm>
            <a:off x="7259320" y="2286000"/>
            <a:ext cx="3891280" cy="1021080"/>
          </a:xfrm>
          <a:prstGeom prst="rect">
            <a:avLst/>
          </a:prstGeom>
          <a:noFill/>
        </p:spPr>
        <p:txBody>
          <a:bodyPr wrap="square" lIns="0" rIns="0" tIns="0" bIns="0" anchor="ctr">
            <a:spAutoFit/>
          </a:bodyPr>
          <a:lstStyle/>
          <a:p>
            <a:pPr algn="l">
              <a:spcAft>
                <a:spcPts val="200"/>
              </a:spcAft>
            </a:pPr>
            <a:r>
              <a:rPr sz="2600" b="1">
                <a:solidFill>
                  <a:srgbClr val="2F6690"/>
                </a:solidFill>
                <a:latin typeface="Source Serif 4"/>
                <a:ea typeface="Source Serif 4"/>
                <a:cs typeface="Source Serif 4"/>
              </a:rPr>
              <a:t>55</a:t>
            </a:r>
          </a:p>
          <a:p>
            <a:pPr algn="l"/>
            <a:r>
              <a:rPr sz="1400" b="0">
                <a:solidFill>
                  <a:srgbClr val="4A5568"/>
                </a:solidFill>
                <a:latin typeface="IBM Plex Sans"/>
                <a:ea typeface="IBM Plex Sans"/>
                <a:cs typeface="IBM Plex Sans"/>
              </a:rPr>
              <a:t>sharp facts from 59 synthetic queries; 1 public fact dropped automatically</a:t>
            </a:r>
          </a:p>
        </p:txBody>
      </p:sp>
      <p:sp>
        <p:nvSpPr>
          <p:cNvPr id="8" name="Stat 2"/>
          <p:cNvSpPr/>
          <p:nvPr/>
        </p:nvSpPr>
        <p:spPr>
          <a:xfrm>
            <a:off x="7030720" y="3489960"/>
            <a:ext cx="4348480" cy="102108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2 text"/>
          <p:cNvSpPr txBox="1"/>
          <p:nvPr/>
        </p:nvSpPr>
        <p:spPr>
          <a:xfrm>
            <a:off x="7259320" y="3489960"/>
            <a:ext cx="3891280" cy="1021080"/>
          </a:xfrm>
          <a:prstGeom prst="rect">
            <a:avLst/>
          </a:prstGeom>
          <a:noFill/>
        </p:spPr>
        <p:txBody>
          <a:bodyPr wrap="square" lIns="0" rIns="0" tIns="0" bIns="0" anchor="ctr">
            <a:spAutoFit/>
          </a:bodyPr>
          <a:lstStyle/>
          <a:p>
            <a:pPr algn="l">
              <a:spcAft>
                <a:spcPts val="200"/>
              </a:spcAft>
            </a:pPr>
            <a:r>
              <a:rPr sz="2600" b="1">
                <a:solidFill>
                  <a:srgbClr val="2F6690"/>
                </a:solidFill>
                <a:latin typeface="Source Serif 4"/>
                <a:ea typeface="Source Serif 4"/>
                <a:cs typeface="Source Serif 4"/>
              </a:rPr>
              <a:t>7%</a:t>
            </a:r>
          </a:p>
          <a:p>
            <a:pPr algn="l"/>
            <a:r>
              <a:rPr sz="1400" b="0">
                <a:solidFill>
                  <a:srgbClr val="4A5568"/>
                </a:solidFill>
                <a:latin typeface="IBM Plex Sans"/>
                <a:ea typeface="IBM Plex Sans"/>
                <a:cs typeface="IBM Plex Sans"/>
              </a:rPr>
              <a:t>decoy hit rate for every model: the baseline for lucky guesses</a:t>
            </a:r>
          </a:p>
        </p:txBody>
      </p:sp>
      <p:sp>
        <p:nvSpPr>
          <p:cNvPr id="10" name="Stat 3"/>
          <p:cNvSpPr/>
          <p:nvPr/>
        </p:nvSpPr>
        <p:spPr>
          <a:xfrm>
            <a:off x="7030720" y="4693920"/>
            <a:ext cx="4348480" cy="1021080"/>
          </a:xfrm>
          <a:prstGeom prst="roundRect">
            <a:avLst>
              <a:gd name="adj" fmla="val 6000"/>
            </a:avLst>
          </a:prstGeom>
          <a:solidFill>
            <a:srgbClr val="F6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3 text"/>
          <p:cNvSpPr txBox="1"/>
          <p:nvPr/>
        </p:nvSpPr>
        <p:spPr>
          <a:xfrm>
            <a:off x="7259320" y="4693920"/>
            <a:ext cx="3891280" cy="1021080"/>
          </a:xfrm>
          <a:prstGeom prst="rect">
            <a:avLst/>
          </a:prstGeom>
          <a:noFill/>
        </p:spPr>
        <p:txBody>
          <a:bodyPr wrap="square" lIns="0" rIns="0" tIns="0" bIns="0" anchor="ctr">
            <a:spAutoFit/>
          </a:bodyPr>
          <a:lstStyle/>
          <a:p>
            <a:pPr algn="l">
              <a:spcAft>
                <a:spcPts val="200"/>
              </a:spcAft>
            </a:pPr>
            <a:r>
              <a:rPr sz="2600" b="1">
                <a:solidFill>
                  <a:srgbClr val="2F6690"/>
                </a:solidFill>
                <a:latin typeface="Source Serif 4"/>
                <a:ea typeface="Source Serif 4"/>
                <a:cs typeface="Source Serif 4"/>
              </a:rPr>
              <a:t>0 · 9 · 25</a:t>
            </a:r>
          </a:p>
          <a:p>
            <a:pPr algn="l"/>
            <a:r>
              <a:rPr sz="1400" b="0">
                <a:solidFill>
                  <a:srgbClr val="4A5568"/>
                </a:solidFill>
                <a:latin typeface="IBM Plex Sans"/>
                <a:ea typeface="IBM Plex Sans"/>
                <a:cs typeface="IBM Plex Sans"/>
              </a:rPr>
              <a:t>facts reproduced by the clean, partial and leaky models</a:t>
            </a:r>
          </a:p>
        </p:txBody>
      </p:sp>
    </p:spTree>
  </p:cSld>
  <p:clrMapOvr>
    <a:masterClrMapping/>
  </p:clrMapOvr>
</p:sld>
</file>

<file path=ppt/theme/theme1.xml><?xml version="1.0" encoding="utf-8"?>
<a:theme xmlns:a="http://schemas.openxmlformats.org/drawingml/2006/main" name="Measuring AI Data Leakage">
  <a:themeElements>
    <a:clrScheme name="Measuring AI Data Leakage">
      <a:dk1>
        <a:srgbClr val="14213D"/>
      </a:dk1>
      <a:lt1>
        <a:srgbClr val="FFFFFF"/>
      </a:lt1>
      <a:dk2>
        <a:srgbClr val="4F596E"/>
      </a:dk2>
      <a:lt2>
        <a:srgbClr val="E8E9EC"/>
      </a:lt2>
      <a:accent1>
        <a:srgbClr val="2F6690"/>
      </a:accent1>
      <a:accent2>
        <a:srgbClr val="B5501F"/>
      </a:accent2>
      <a:accent3>
        <a:srgbClr val="4A5568"/>
      </a:accent3>
      <a:accent4>
        <a:srgbClr val="9AA0A6"/>
      </a:accent4>
      <a:accent5>
        <a:srgbClr val="727A8B"/>
      </a:accent5>
      <a:accent6>
        <a:srgbClr val="959BA8"/>
      </a:accent6>
      <a:hlink>
        <a:srgbClr val="0563C1"/>
      </a:hlink>
      <a:folHlink>
        <a:srgbClr val="954F72"/>
      </a:folHlink>
    </a:clrScheme>
    <a:fontScheme name="Measuring AI Data Leakag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Data Leakage</dc:title>
  <dc:subject/>
  <dc:creator/>
  <cp:lastModifiedBy/>
  <cp:revision>1</cp:revision>
  <dcterms:created xsi:type="dcterms:W3CDTF">2026-10-27T03:00:22Z</dcterms:created>
  <dcterms:modified xsi:type="dcterms:W3CDTF">2026-10-27T03:00:22Z</dcterms:modified>
</cp:coreProperties>
</file>